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封面（约 1.5 秒）。画面只留标题，制造悬念。</a:t>
            </a:r>
          </a:p>
          <a:p>
            <a:r>
              <a:t>口播：'给你看个我刚做的小插件——读文档时遇到不认识的词，选中它就能问。'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钩子（约 3 秒）。手指或光标划过『幂等性』这个高亮词。</a:t>
            </a:r>
          </a:p>
          <a:p>
            <a:r>
              <a:t>口播：'读文档遇到不认识的术语，你是不是又要新开一个对话去问？一打断，思路就没了。'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演示核心（约 4 秒）。录屏时鼠标从『幂等性』上松手 → 按钮浮出 → 点击。</a:t>
            </a:r>
          </a:p>
          <a:p>
            <a:r>
              <a:t>口播：'现在不用了。选中它，旁边会冒出一个搜索按钮，点一下。'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效果（约 5 秒）。先露『正在思考…』再出答案，最后一行 token 用高亮。</a:t>
            </a:r>
          </a:p>
          <a:p>
            <a:r>
              <a:t>口播：'它会就地给你基本含义、用途、用法，还会告诉你这次解释花掉多少 token。'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价值点（约 3.5 秒）。三条依次出现。</a:t>
            </a:r>
          </a:p>
          <a:p>
            <a:r>
              <a:t>口播：'重点是它不占你对话的上下文，也不打断正在跑的任务；顺便还能看到成本。'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差异化（约 4 秒）。词可以逐个弹出。</a:t>
            </a:r>
          </a:p>
          <a:p>
            <a:r>
              <a:t>口播：'它还会根据你正在聊的领域来回答，学医的、学法律的，不会被解释成程序员那套。'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安装（约 4 秒）。可以插一段真实的插件市场录屏。</a:t>
            </a:r>
          </a:p>
          <a:p>
            <a:r>
              <a:t>口播：'装起来也就三步：设置里进插件市场，搜术语速查，点安装，刷新一下就好。'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收尾（约 3 秒）。停住 2 秒方便截图/打字幕。</a:t>
            </a:r>
          </a:p>
          <a:p>
            <a:r>
              <a:t>口播：'插件叫术语速查，商店里搜名字就能装，开源免费的，链接放评论区。'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852160"/>
            <a:ext cx="2377440" cy="128016"/>
          </a:xfrm>
          <a:prstGeom prst="roundRect">
            <a:avLst>
              <a:gd name="adj" fmla="val 8000"/>
            </a:avLst>
          </a:prstGeom>
          <a:solidFill>
            <a:srgbClr val="4D6BFE"/>
          </a:solidFill>
          <a:ln w="15240">
            <a:solidFill>
              <a:srgbClr val="4D6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309360"/>
            <a:ext cx="8641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7D92FF"/>
                </a:solidFill>
                <a:latin typeface="Microsoft YaHei"/>
              </a:rPr>
              <a:t>DeepSeek Harness 插件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040880"/>
            <a:ext cx="86410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200" b="1">
                <a:solidFill>
                  <a:srgbClr val="F3F5F9"/>
                </a:solidFill>
                <a:latin typeface="Microsoft YaHei"/>
              </a:rPr>
              <a:t>术语速查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0"/>
            <a:ext cx="8641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F3F5F9"/>
                </a:solidFill>
                <a:latin typeface="Microsoft YaHei"/>
              </a:rPr>
              <a:t>选中术语，就地解释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521440"/>
            <a:ext cx="8641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>
                <a:solidFill>
                  <a:srgbClr val="9AA4B5"/>
                </a:solidFill>
                <a:latin typeface="Microsoft YaHei"/>
              </a:rPr>
              <a:t>基本含义 · 用途 · 用法，顺手看 token 成本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17320"/>
            <a:ext cx="8641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7D92FF"/>
                </a:solidFill>
                <a:latin typeface="Microsoft YaHei"/>
              </a:rPr>
              <a:t>读文档 / 看教程时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86410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6000" b="1">
                <a:solidFill>
                  <a:srgbClr val="F3F5F9"/>
                </a:solidFill>
                <a:latin typeface="Microsoft YaHei"/>
              </a:rPr>
              <a:t>又遇到
看不懂的术语？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623560"/>
            <a:ext cx="8641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0">
                <a:solidFill>
                  <a:srgbClr val="9AA4B5"/>
                </a:solidFill>
                <a:latin typeface="Microsoft YaHei"/>
              </a:rPr>
              <a:t>每次都要新开一个对话去问，阅读的节奏就断了。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7589520"/>
            <a:ext cx="8641080" cy="2926080"/>
          </a:xfrm>
          <a:prstGeom prst="roundRect">
            <a:avLst>
              <a:gd name="adj" fmla="val 8000"/>
            </a:avLst>
          </a:prstGeom>
          <a:solidFill>
            <a:srgbClr val="171C26"/>
          </a:solidFill>
          <a:ln w="1524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7955279"/>
            <a:ext cx="78181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0">
                <a:solidFill>
                  <a:srgbClr val="E6EAF3"/>
                </a:solidFill>
                <a:latin typeface="Microsoft YaHei"/>
              </a:rPr>
              <a:t>会话需要保证「幂等性」，重复提交不会产生副作用……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0881360"/>
            <a:ext cx="8641080" cy="1554480"/>
          </a:xfrm>
          <a:prstGeom prst="roundRect">
            <a:avLst>
              <a:gd name="adj" fmla="val 8000"/>
            </a:avLst>
          </a:prstGeom>
          <a:solidFill>
            <a:srgbClr val="1A2440"/>
          </a:solidFill>
          <a:ln w="15240">
            <a:solidFill>
              <a:srgbClr val="2B39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1201400"/>
            <a:ext cx="7818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>
                <a:solidFill>
                  <a:srgbClr val="9AA4B5"/>
                </a:solidFill>
                <a:latin typeface="Microsoft YaHei"/>
              </a:rPr>
              <a:t>（幂等性是啥？再开个对话问一下…）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17320"/>
            <a:ext cx="8641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7D92FF"/>
                </a:solidFill>
                <a:latin typeface="Microsoft YaHei"/>
              </a:rPr>
              <a:t>现在只要一步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86410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6000" b="1">
                <a:solidFill>
                  <a:srgbClr val="F3F5F9"/>
                </a:solidFill>
                <a:latin typeface="Microsoft YaHei"/>
              </a:rPr>
              <a:t>选中它，
点一下「搜索」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623560"/>
            <a:ext cx="8641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0">
                <a:solidFill>
                  <a:srgbClr val="9AA4B5"/>
                </a:solidFill>
                <a:latin typeface="Microsoft YaHei"/>
              </a:rPr>
              <a:t>解释就出现在原地——不用切窗口，也不用新开对话。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7315200"/>
            <a:ext cx="8641080" cy="3108960"/>
          </a:xfrm>
          <a:prstGeom prst="roundRect">
            <a:avLst>
              <a:gd name="adj" fmla="val 8000"/>
            </a:avLst>
          </a:prstGeom>
          <a:solidFill>
            <a:srgbClr val="171C26"/>
          </a:solidFill>
          <a:ln w="1524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7772400"/>
            <a:ext cx="781812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0">
                <a:solidFill>
                  <a:srgbClr val="E6EAF3"/>
                </a:solidFill>
                <a:latin typeface="Microsoft YaHei"/>
              </a:rPr>
              <a:t>会话需要保证 </a:t>
            </a:r>
          </a:p>
          <a:p>
            <a:pPr algn="l">
              <a:lnSpc>
                <a:spcPct val="125000"/>
              </a:lnSpc>
            </a:pPr>
            <a:r>
              <a:rPr sz="3200" b="1">
                <a:solidFill>
                  <a:srgbClr val="F3F5F9"/>
                </a:solidFill>
                <a:latin typeface="Microsoft YaHei"/>
              </a:rPr>
              <a:t>幂等性</a:t>
            </a:r>
          </a:p>
          <a:p>
            <a:pPr algn="l">
              <a:lnSpc>
                <a:spcPct val="125000"/>
              </a:lnSpc>
            </a:pPr>
            <a:r>
              <a:rPr sz="3200" b="0">
                <a:solidFill>
                  <a:srgbClr val="E6EAF3"/>
                </a:solidFill>
                <a:latin typeface="Microsoft YaHei"/>
              </a:rPr>
              <a:t>，重复提交不会产生副作用……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10881360"/>
            <a:ext cx="2697480" cy="868680"/>
          </a:xfrm>
          <a:prstGeom prst="roundRect">
            <a:avLst>
              <a:gd name="adj" fmla="val 50000"/>
            </a:avLst>
          </a:prstGeom>
          <a:solidFill>
            <a:srgbClr val="171C26"/>
          </a:solidFill>
          <a:ln w="15240">
            <a:solidFill>
              <a:srgbClr val="3A42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0" y="11082528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3F5F9"/>
                </a:solidFill>
                <a:latin typeface="Microsoft YaHei"/>
              </a:rPr>
              <a:t>搜索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17320"/>
            <a:ext cx="8641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7D92FF"/>
                </a:solidFill>
                <a:latin typeface="Microsoft YaHei"/>
              </a:rPr>
              <a:t>基本含义 · 用途 · 用法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86410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5400" b="1">
                <a:solidFill>
                  <a:srgbClr val="F3F5F9"/>
                </a:solidFill>
                <a:latin typeface="Microsoft YaHei"/>
              </a:rPr>
              <a:t>一次说清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4206240"/>
            <a:ext cx="8641080" cy="6035040"/>
          </a:xfrm>
          <a:prstGeom prst="roundRect">
            <a:avLst>
              <a:gd name="adj" fmla="val 8000"/>
            </a:avLst>
          </a:prstGeom>
          <a:solidFill>
            <a:srgbClr val="161A22"/>
          </a:solidFill>
          <a:ln w="1524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4572000"/>
            <a:ext cx="7726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F3F5F9"/>
                </a:solidFill>
                <a:latin typeface="Microsoft YaHei"/>
              </a:rPr>
              <a:t>幂等性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5349240"/>
            <a:ext cx="7726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1">
                <a:solidFill>
                  <a:srgbClr val="F3F5F9"/>
                </a:solidFill>
                <a:latin typeface="Microsoft YaHei"/>
              </a:rPr>
              <a:t>同一个操作执行一次和多次，对系统状态的影响相同。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9AA4B5"/>
                </a:solidFill>
                <a:latin typeface="Microsoft YaHe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2800" b="0">
                <a:solidFill>
                  <a:srgbClr val="E7EBF3"/>
                </a:solidFill>
                <a:latin typeface="Microsoft YaHei"/>
              </a:rPr>
              <a:t>用途：网络超时重试、用户连点提交，都不会造成重复扣款。</a:t>
            </a:r>
          </a:p>
          <a:p>
            <a:pPr algn="l">
              <a:lnSpc>
                <a:spcPct val="145000"/>
              </a:lnSpc>
            </a:pPr>
            <a:r>
              <a:rPr sz="2800" b="0">
                <a:solidFill>
                  <a:srgbClr val="E7EBF3"/>
                </a:solidFill>
                <a:latin typeface="Microsoft YaHei"/>
              </a:rPr>
              <a:t>用法：接口带唯一 requestId，服务端记住已处理的请求。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0561320"/>
            <a:ext cx="8641080" cy="731520"/>
          </a:xfrm>
          <a:prstGeom prst="roundRect">
            <a:avLst>
              <a:gd name="adj" fmla="val 20000"/>
            </a:avLst>
          </a:prstGeom>
          <a:solidFill>
            <a:srgbClr val="121722"/>
          </a:solidFill>
          <a:ln w="1524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0735056"/>
            <a:ext cx="7909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9AA4B5"/>
                </a:solidFill>
                <a:latin typeface="Microsoft YaHei"/>
              </a:rPr>
              <a:t>token：输入 204 · 输出 330 · 合计 534 · deepseek-flash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17320"/>
            <a:ext cx="8641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7D92FF"/>
                </a:solidFill>
                <a:latin typeface="Microsoft YaHei"/>
              </a:rPr>
              <a:t>关键是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86410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6000" b="1">
                <a:solidFill>
                  <a:srgbClr val="F3F5F9"/>
                </a:solidFill>
                <a:latin typeface="Microsoft YaHei"/>
              </a:rPr>
              <a:t>它不打断
你手上的活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6565392"/>
            <a:ext cx="164592" cy="164592"/>
          </a:xfrm>
          <a:prstGeom prst="ellipse">
            <a:avLst/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6400800"/>
            <a:ext cx="8183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0">
                <a:solidFill>
                  <a:srgbClr val="F3F5F9"/>
                </a:solidFill>
                <a:latin typeface="Microsoft YaHei"/>
              </a:rPr>
              <a:t>不写进会话记录，不占上下文轮次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8165592"/>
            <a:ext cx="164592" cy="164592"/>
          </a:xfrm>
          <a:prstGeom prst="ellipse">
            <a:avLst/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8001000"/>
            <a:ext cx="8183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0">
                <a:solidFill>
                  <a:srgbClr val="F3F5F9"/>
                </a:solidFill>
                <a:latin typeface="Microsoft YaHei"/>
              </a:rPr>
              <a:t>正在跑的任务、正在写的代码，都不受影响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9765792"/>
            <a:ext cx="164592" cy="164592"/>
          </a:xfrm>
          <a:prstGeom prst="ellipse">
            <a:avLst/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9601200"/>
            <a:ext cx="8183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0">
                <a:solidFill>
                  <a:srgbClr val="F3F5F9"/>
                </a:solidFill>
                <a:latin typeface="Microsoft YaHei"/>
              </a:rPr>
              <a:t>顺手告诉你：这次解释花了多少 token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17320"/>
            <a:ext cx="8641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7D92FF"/>
                </a:solidFill>
                <a:latin typeface="Microsoft YaHei"/>
              </a:rPr>
              <a:t>而且它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86410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5400" b="1">
                <a:solidFill>
                  <a:srgbClr val="F3F5F9"/>
                </a:solidFill>
                <a:latin typeface="Microsoft YaHei"/>
              </a:rPr>
              <a:t>按你正在聊的领域
来回答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486400"/>
            <a:ext cx="8641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>
                <a:solidFill>
                  <a:srgbClr val="9AA4B5"/>
                </a:solidFill>
                <a:latin typeface="Microsoft YaHei"/>
              </a:rPr>
              <a:t>它读的是你这段对话本身，同一个词在医学、法律里不会被硬套成技术术语。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7498079"/>
            <a:ext cx="2377440" cy="822960"/>
          </a:xfrm>
          <a:prstGeom prst="roundRect">
            <a:avLst>
              <a:gd name="adj" fmla="val 50000"/>
            </a:avLst>
          </a:prstGeom>
          <a:solidFill>
            <a:srgbClr val="16203A"/>
          </a:solidFill>
          <a:ln w="15240">
            <a:solidFill>
              <a:srgbClr val="4D6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7699247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F3F5F9"/>
                </a:solidFill>
                <a:latin typeface="Microsoft YaHei"/>
              </a:rPr>
              <a:t>计算机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7498079"/>
            <a:ext cx="1874519" cy="822960"/>
          </a:xfrm>
          <a:prstGeom prst="roundRect">
            <a:avLst>
              <a:gd name="adj" fmla="val 50000"/>
            </a:avLst>
          </a:prstGeom>
          <a:solidFill>
            <a:srgbClr val="121722"/>
          </a:solidFill>
          <a:ln w="1524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85032" y="7699247"/>
            <a:ext cx="15087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F3F5F9"/>
                </a:solidFill>
                <a:latin typeface="Microsoft YaHei"/>
              </a:rPr>
              <a:t>医学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32119" y="7498079"/>
            <a:ext cx="1874519" cy="822960"/>
          </a:xfrm>
          <a:prstGeom prst="roundRect">
            <a:avLst>
              <a:gd name="adj" fmla="val 50000"/>
            </a:avLst>
          </a:prstGeom>
          <a:solidFill>
            <a:srgbClr val="121722"/>
          </a:solidFill>
          <a:ln w="1524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88151" y="7699247"/>
            <a:ext cx="15087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F3F5F9"/>
                </a:solidFill>
                <a:latin typeface="Microsoft YaHei"/>
              </a:rPr>
              <a:t>法律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8641079"/>
            <a:ext cx="1874519" cy="822960"/>
          </a:xfrm>
          <a:prstGeom prst="roundRect">
            <a:avLst>
              <a:gd name="adj" fmla="val 50000"/>
            </a:avLst>
          </a:prstGeom>
          <a:solidFill>
            <a:srgbClr val="121722"/>
          </a:solidFill>
          <a:ln w="1524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8842247"/>
            <a:ext cx="15087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F3F5F9"/>
                </a:solidFill>
                <a:latin typeface="Microsoft YaHei"/>
              </a:rPr>
              <a:t>金融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79" y="8641079"/>
            <a:ext cx="1874519" cy="822960"/>
          </a:xfrm>
          <a:prstGeom prst="roundRect">
            <a:avLst>
              <a:gd name="adj" fmla="val 50000"/>
            </a:avLst>
          </a:prstGeom>
          <a:solidFill>
            <a:srgbClr val="121722"/>
          </a:solidFill>
          <a:ln w="1524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82111" y="8842247"/>
            <a:ext cx="15087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F3F5F9"/>
                </a:solidFill>
                <a:latin typeface="Microsoft YaHei"/>
              </a:rPr>
              <a:t>化学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198" y="8641079"/>
            <a:ext cx="1874519" cy="822960"/>
          </a:xfrm>
          <a:prstGeom prst="roundRect">
            <a:avLst>
              <a:gd name="adj" fmla="val 50000"/>
            </a:avLst>
          </a:prstGeom>
          <a:solidFill>
            <a:srgbClr val="121722"/>
          </a:solidFill>
          <a:ln w="1524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85230" y="8842247"/>
            <a:ext cx="15087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F3F5F9"/>
                </a:solidFill>
                <a:latin typeface="Microsoft YaHei"/>
              </a:rPr>
              <a:t>物理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17320"/>
            <a:ext cx="8641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7D92FF"/>
                </a:solidFill>
                <a:latin typeface="Microsoft YaHei"/>
              </a:rPr>
              <a:t>30 秒装好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86410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5400" b="1">
                <a:solidFill>
                  <a:srgbClr val="F3F5F9"/>
                </a:solidFill>
                <a:latin typeface="Microsoft YaHei"/>
              </a:rPr>
              <a:t>三步，不用命令行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120640"/>
            <a:ext cx="8641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0">
                <a:solidFill>
                  <a:srgbClr val="F3F5F9"/>
                </a:solidFill>
                <a:latin typeface="Microsoft YaHei"/>
              </a:rPr>
              <a:t>① 设置 → 插件 → 市场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858000"/>
            <a:ext cx="8641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0">
                <a:solidFill>
                  <a:srgbClr val="F3F5F9"/>
                </a:solidFill>
                <a:latin typeface="Microsoft YaHei"/>
              </a:rPr>
              <a:t>② 搜「术语速查」或 dsh-term-glossary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595359"/>
            <a:ext cx="8641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0">
                <a:solidFill>
                  <a:srgbClr val="F3F5F9"/>
                </a:solidFill>
                <a:latin typeface="Microsoft YaHei"/>
              </a:rPr>
              <a:t>③ 点安装 → 按 Ctrl + R 刷新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332720"/>
            <a:ext cx="8641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>
                <a:solidFill>
                  <a:srgbClr val="9AA4B5"/>
                </a:solidFill>
                <a:latin typeface="Microsoft YaHei"/>
              </a:rPr>
              <a:t>也可以在对话里直接说：</a:t>
            </a:r>
          </a:p>
          <a:p>
            <a:pPr algn="l">
              <a:lnSpc>
                <a:spcPct val="125000"/>
              </a:lnSpc>
            </a:pPr>
            <a:r>
              <a:rPr sz="2800" b="1">
                <a:solidFill>
                  <a:srgbClr val="7D92FF"/>
                </a:solidFill>
                <a:latin typeface="Microsoft YaHei"/>
              </a:rPr>
              <a:t>「帮我安装插件 dsh-term-glossary」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17320"/>
            <a:ext cx="8641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7D92FF"/>
                </a:solidFill>
                <a:latin typeface="Microsoft YaHei"/>
              </a:rPr>
              <a:t>DeepSeek Harness 插件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108960"/>
            <a:ext cx="86410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>
                <a:solidFill>
                  <a:srgbClr val="F3F5F9"/>
                </a:solidFill>
                <a:latin typeface="Microsoft YaHei"/>
              </a:rPr>
              <a:t>术语速查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394960"/>
            <a:ext cx="8641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>
                <a:solidFill>
                  <a:srgbClr val="9AA4B5"/>
                </a:solidFill>
                <a:latin typeface="Microsoft YaHei"/>
              </a:rPr>
              <a:t>选中术语就地解释 · 不打断对话 · 顺手看成本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7132320"/>
            <a:ext cx="8641080" cy="2926080"/>
          </a:xfrm>
          <a:prstGeom prst="roundRect">
            <a:avLst>
              <a:gd name="adj" fmla="val 8000"/>
            </a:avLst>
          </a:prstGeom>
          <a:solidFill>
            <a:srgbClr val="171C26"/>
          </a:solidFill>
          <a:ln w="1524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7498079"/>
            <a:ext cx="77266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2600" b="0">
                <a:solidFill>
                  <a:srgbClr val="E7EBF3"/>
                </a:solidFill>
                <a:latin typeface="Microsoft YaHei"/>
              </a:rPr>
              <a:t>GitHub：github.com/ashz555/dsh-term-glossary</a:t>
            </a:r>
          </a:p>
          <a:p>
            <a:pPr algn="l">
              <a:lnSpc>
                <a:spcPct val="150000"/>
              </a:lnSpc>
            </a:pPr>
            <a:r>
              <a:rPr sz="2600" b="0">
                <a:solidFill>
                  <a:srgbClr val="E7EBF3"/>
                </a:solidFill>
                <a:latin typeface="Microsoft YaHei"/>
              </a:rPr>
              <a:t>市场：设置 → 插件 → 市场，搜「术语速查」</a:t>
            </a:r>
          </a:p>
          <a:p>
            <a:pPr algn="l">
              <a:lnSpc>
                <a:spcPct val="150000"/>
              </a:lnSpc>
            </a:pPr>
            <a:r>
              <a:rPr sz="2600" b="1">
                <a:solidFill>
                  <a:srgbClr val="F3F5F9"/>
                </a:solidFill>
                <a:latin typeface="Microsoft YaHei"/>
              </a:rPr>
              <a:t>命令：dsh plugin add dsh-term-glossary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607040"/>
            <a:ext cx="8641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7D92FF"/>
                </a:solidFill>
                <a:latin typeface="Microsoft YaHei"/>
              </a:rPr>
              <a:t>#DeepSeek  #DSH  #AI工具  #效率提升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